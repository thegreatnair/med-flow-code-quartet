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602347879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602347879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60234787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602347879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LIDES_API602347879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LIDES_API602347879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S_API602347879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S_API602347879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S_API602347879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S_API602347879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602347879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602347879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MedFlow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Web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Platform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65000"/>
                  </a:schemeClr>
                </a:solidFill>
                <a:latin typeface="Bookman Old Style" panose="02050604050505020204" pitchFamily="18" charset="0"/>
              </a:rPr>
              <a:t>Prioritize Patients. Optimize Resources.</a:t>
            </a:r>
            <a:endParaRPr dirty="0">
              <a:solidFill>
                <a:schemeClr val="bg1">
                  <a:lumMod val="65000"/>
                </a:schemeClr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65000"/>
                  </a:schemeClr>
                </a:solidFill>
                <a:latin typeface="Bookman Old Style" panose="02050604050505020204" pitchFamily="18" charset="0"/>
              </a:rPr>
              <a:t>Hack-a-Matics 2026 - VECTOR Track</a:t>
            </a:r>
            <a:endParaRPr dirty="0">
              <a:solidFill>
                <a:schemeClr val="bg1">
                  <a:lumMod val="6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u="sng" dirty="0">
                <a:solidFill>
                  <a:srgbClr val="F3F4F6"/>
                </a:solidFill>
              </a:rPr>
              <a:t>An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Intelligent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Hospital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Resource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Management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&amp;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Operational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Stress</a:t>
            </a:r>
            <a:r>
              <a:rPr lang="en" sz="1300" b="1" dirty="0">
                <a:solidFill>
                  <a:srgbClr val="F3F4F6"/>
                </a:solidFill>
              </a:rPr>
              <a:t> </a:t>
            </a:r>
            <a:r>
              <a:rPr lang="en" sz="1300" b="1" u="sng" dirty="0">
                <a:solidFill>
                  <a:srgbClr val="F3F4F6"/>
                </a:solidFill>
              </a:rPr>
              <a:t>Simulator</a:t>
            </a:r>
            <a:endParaRPr sz="1300" b="1" u="sng" dirty="0">
              <a:solidFill>
                <a:srgbClr val="F3F4F6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F3F4F6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N" sz="1300" dirty="0">
              <a:solidFill>
                <a:srgbClr val="F3F4F6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u="sng" dirty="0">
                <a:solidFill>
                  <a:srgbClr val="F3F4F6"/>
                </a:solidFill>
                <a:latin typeface="Bell MT" panose="02020503060305020303" pitchFamily="18" charset="0"/>
              </a:rPr>
              <a:t>Team</a:t>
            </a:r>
            <a:r>
              <a:rPr lang="en" sz="1300" b="1" dirty="0">
                <a:solidFill>
                  <a:srgbClr val="F3F4F6"/>
                </a:solidFill>
                <a:latin typeface="Bell MT" panose="02020503060305020303" pitchFamily="18" charset="0"/>
              </a:rPr>
              <a:t> </a:t>
            </a:r>
            <a:r>
              <a:rPr lang="en" sz="1300" b="1" u="sng" dirty="0">
                <a:solidFill>
                  <a:srgbClr val="F3F4F6"/>
                </a:solidFill>
                <a:latin typeface="Bell MT" panose="02020503060305020303" pitchFamily="18" charset="0"/>
              </a:rPr>
              <a:t>CODE</a:t>
            </a: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</a:t>
            </a:r>
            <a:r>
              <a:rPr lang="en" sz="1300" b="1" u="sng" dirty="0">
                <a:solidFill>
                  <a:srgbClr val="F3F4F6"/>
                </a:solidFill>
                <a:latin typeface="Bell MT" panose="02020503060305020303" pitchFamily="18" charset="0"/>
              </a:rPr>
              <a:t>QUARTET</a:t>
            </a:r>
            <a:r>
              <a:rPr lang="en" sz="1300" b="1" dirty="0">
                <a:solidFill>
                  <a:srgbClr val="F3F4F6"/>
                </a:solidFill>
                <a:latin typeface="Bell MT" panose="02020503060305020303" pitchFamily="18" charset="0"/>
              </a:rPr>
              <a:t>:</a:t>
            </a:r>
            <a:br>
              <a:rPr lang="en" sz="1300" b="1" dirty="0">
                <a:solidFill>
                  <a:srgbClr val="F3F4F6"/>
                </a:solidFill>
                <a:latin typeface="Bell MT" panose="02020503060305020303" pitchFamily="18" charset="0"/>
              </a:rPr>
            </a:br>
            <a:endParaRPr sz="1300" b="1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r>
              <a:rPr lang="e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 </a:t>
            </a:r>
            <a:r>
              <a:rPr lang="e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Debayudh</a:t>
            </a:r>
            <a:r>
              <a:rPr lang="e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Roy</a:t>
            </a:r>
            <a:r>
              <a:rPr lang="en" sz="1600" dirty="0">
                <a:solidFill>
                  <a:srgbClr val="F3F4F6"/>
                </a:solidFill>
                <a:latin typeface="Bell MT" panose="02020503060305020303" pitchFamily="18" charset="0"/>
              </a:rPr>
              <a:t>:</a:t>
            </a: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Team Leader &amp; Patient Architect (Back-end)</a:t>
            </a:r>
            <a:b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</a:br>
            <a:r>
              <a:rPr lang="en-US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</a:t>
            </a:r>
            <a:r>
              <a:rPr lang="en-US" sz="1300" dirty="0">
                <a:solidFill>
                  <a:srgbClr val="F3F4F6"/>
                </a:solidFill>
                <a:latin typeface="Bell MT" panose="02020503060305020303" pitchFamily="18" charset="0"/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Ateeb</a:t>
            </a:r>
            <a:r>
              <a:rPr lang="en-US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Abdul</a:t>
            </a:r>
            <a:r>
              <a:rPr lang="en-US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Quadir</a:t>
            </a:r>
            <a:r>
              <a:rPr lang="en-US" sz="1600" dirty="0">
                <a:solidFill>
                  <a:srgbClr val="F3F4F6"/>
                </a:solidFill>
                <a:latin typeface="Bell MT" panose="02020503060305020303" pitchFamily="18" charset="0"/>
              </a:rPr>
              <a:t>:</a:t>
            </a:r>
            <a:r>
              <a:rPr lang="en-US" sz="1300" dirty="0">
                <a:solidFill>
                  <a:srgbClr val="F3F4F6"/>
                </a:solidFill>
                <a:latin typeface="Bell MT" panose="02020503060305020303" pitchFamily="18" charset="0"/>
              </a:rPr>
              <a:t> Resource Manager (Back-end)</a:t>
            </a:r>
            <a:endParaRPr lang="en"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r>
              <a:rPr lang="e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 </a:t>
            </a:r>
            <a:r>
              <a:rPr lang="e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Aditya</a:t>
            </a:r>
            <a:r>
              <a:rPr lang="e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Choudhary</a:t>
            </a:r>
            <a:r>
              <a:rPr lang="en" sz="1600" dirty="0">
                <a:solidFill>
                  <a:srgbClr val="F3F4F6"/>
                </a:solidFill>
                <a:latin typeface="Bell MT" panose="02020503060305020303" pitchFamily="18" charset="0"/>
              </a:rPr>
              <a:t>:</a:t>
            </a: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Dashboard Designer (Front-end)</a:t>
            </a:r>
            <a:b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</a:br>
            <a:r>
              <a:rPr lang="en-I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 </a:t>
            </a:r>
            <a:r>
              <a:rPr lang="en-I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Adithya</a:t>
            </a:r>
            <a:r>
              <a:rPr lang="en-I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I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S</a:t>
            </a:r>
            <a:r>
              <a:rPr lang="en-IN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I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Nair</a:t>
            </a:r>
            <a:r>
              <a:rPr lang="en-IN" sz="1600" dirty="0">
                <a:solidFill>
                  <a:srgbClr val="F3F4F6"/>
                </a:solidFill>
                <a:latin typeface="Bell MT" panose="02020503060305020303" pitchFamily="18" charset="0"/>
              </a:rPr>
              <a:t>:</a:t>
            </a:r>
            <a:r>
              <a:rPr lang="en-IN" sz="1300" dirty="0">
                <a:solidFill>
                  <a:srgbClr val="F3F4F6"/>
                </a:solidFill>
                <a:latin typeface="Bell MT" panose="02020503060305020303" pitchFamily="18" charset="0"/>
              </a:rPr>
              <a:t> Integrator, Visualization Developer &amp; Demo Presentation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Core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Platform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Features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Foundational Patient &amp; Resource Allocation System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Patient Urgency Representation: Dynamic multi-tier triage classification.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Live Queue Management: Real-time patient waiting list tracking.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Resource Tracking: Live status of beds, ICU units, doctors, and nurses.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Intelligent Assignment: Automated conflict-free resource allocation.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Priority Scheduling: Urgent case prioritization with wait-time decay.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Safety Constraints: Capacity limit enforcement and overlap prevention.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Operations Dashboard: Live utilization and bottleneck telemetry.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Stress-Testing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&amp;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Emergency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Simulation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Simulating Real-World Disruptions &amp; System Surges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Emergency Patient Surges: Injected mass casualty incident streams.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Ambulance Arrival Patterns: Stochastic Poisson arrival modeling.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Resource Failures &amp; Shortages: Equipment downtime and staff absences.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ICU Capacity Hard Caps: Strict critical care boundary enforcement.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Multi-Department Support: Cross-routing between ER, ICU, OR, and Wards.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Scheduling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Strategy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Comparison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Algorithmic Benchmarking Engine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Strategy A — Urgency-Only Model: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  - Schedules purely on triage level.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  - Risk: Patient starvation (lower-urgency cases wait indefinitely).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Strategy B — MedFlow Dynamic Model: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  - Integrates Clinical Urgency + Wait-Time Dependency + Resource Ratios.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   - Prevents queue lockouts while maximizing resource utilization %.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Operations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Dashboard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&amp;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UI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Intuitive High-Stress Operational Control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Telemetry Panel: Live patient queue, wait times, and department load.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Resource Matrix: Real-time occupancy indicators for Beds, ICUs, Ventilators, &amp; Staff.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Stress Simulation Controls: Live buttons to trigger surges, shortages, and failures.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Hackathon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Evaluation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Alignment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Addressing VECTOR Track Judging Metrics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Real-World Impact: Resolves ER bottlenecks and reduces patient delays.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Technical Execution: Zero-conflict state machine with real-time UI.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Mathematical Modelling: Multi-variable dynamic priority scoring formula.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508000" y="381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Conclusion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&amp;</a:t>
            </a:r>
            <a:r>
              <a:rPr lang="en" sz="2600" b="1" dirty="0">
                <a:solidFill>
                  <a:srgbClr val="00F2FE"/>
                </a:solidFill>
                <a:latin typeface="Georgia" panose="02040502050405020303" pitchFamily="18" charset="0"/>
              </a:rPr>
              <a:t> </a:t>
            </a:r>
            <a:r>
              <a:rPr lang="en" sz="2600" b="1" u="sng" dirty="0">
                <a:solidFill>
                  <a:srgbClr val="00F2FE"/>
                </a:solidFill>
                <a:latin typeface="Georgia" panose="02040502050405020303" pitchFamily="18" charset="0"/>
              </a:rPr>
              <a:t>Demo</a:t>
            </a:r>
            <a:endParaRPr sz="2600" b="1" u="sng" dirty="0">
              <a:solidFill>
                <a:srgbClr val="00F2FE"/>
              </a:solidFill>
              <a:latin typeface="Georgia" panose="02040502050405020303" pitchFamily="18" charset="0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508000" y="1143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CA3AF"/>
                </a:solidFill>
                <a:latin typeface="Bookman Old Style" panose="02050604050505020204" pitchFamily="18" charset="0"/>
              </a:rPr>
              <a:t>MedFlow: Prioritize Patients. Optimize Resources.</a:t>
            </a:r>
            <a:endParaRPr dirty="0">
              <a:solidFill>
                <a:srgbClr val="9CA3A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508000" y="1778000"/>
            <a:ext cx="8127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Source code, datasets, and simulation engine are available on GitHub.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lvl="0"/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Every single core requirement has been fulfilled, and every single Bonus feature has been added.</a:t>
            </a:r>
          </a:p>
          <a:p>
            <a:pPr lvl="0"/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Ready for live prototype evaluation.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00" dirty="0">
              <a:solidFill>
                <a:srgbClr val="F3F4F6"/>
              </a:solidFill>
              <a:latin typeface="Bell MT" panose="02020503060305020303" pitchFamily="18" charset="0"/>
            </a:endParaRPr>
          </a:p>
          <a:p>
            <a:pPr lvl="0"/>
            <a:r>
              <a:rPr lang="en" sz="1300" dirty="0">
                <a:solidFill>
                  <a:srgbClr val="F3F4F6"/>
                </a:solidFill>
                <a:latin typeface="Bell MT" panose="02020503060305020303" pitchFamily="18" charset="0"/>
              </a:rPr>
              <a:t>• Demo Video will be uploaded to Google Forms, as told.</a:t>
            </a:r>
            <a:endParaRPr sz="1300" dirty="0">
              <a:solidFill>
                <a:srgbClr val="F3F4F6"/>
              </a:solidFill>
              <a:latin typeface="Bell MT" panose="0202050306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23F2F-801F-E4B0-5B9C-A1AF947C1971}"/>
              </a:ext>
            </a:extLst>
          </p:cNvPr>
          <p:cNvSpPr txBox="1"/>
          <p:nvPr/>
        </p:nvSpPr>
        <p:spPr>
          <a:xfrm>
            <a:off x="508000" y="4233346"/>
            <a:ext cx="2098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Thank You </a:t>
            </a:r>
            <a:r>
              <a:rPr lang="en-IN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ll MT" panose="02020503060305020303" pitchFamily="18" charset="0"/>
              </a:rPr>
              <a:t>• Q &amp; A •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462</Words>
  <Application>Microsoft Office PowerPoint</Application>
  <PresentationFormat>On-screen Show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Bell MT</vt:lpstr>
      <vt:lpstr>Bookman Old Style</vt:lpstr>
      <vt:lpstr>Georgia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Sooraj MS</cp:lastModifiedBy>
  <cp:revision>3</cp:revision>
  <dcterms:modified xsi:type="dcterms:W3CDTF">2026-09-20T11:06:41Z</dcterms:modified>
</cp:coreProperties>
</file>